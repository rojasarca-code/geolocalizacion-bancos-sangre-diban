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900000" y="2300000"/>
            <a:ext cx="10400000" cy="15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4000" b="1" dirty="0">
                <a:solidFill>
                  <a:srgbClr val="1F2A44"/>
                </a:solidFill>
                <a:latin typeface="Calibri"/>
              </a:rPr>
              <a:t>Bancos de sangre por región del Perú</a:t>
            </a:r>
          </a:p>
        </p:txBody>
      </p:sp>
      <p:sp>
        <p:nvSpPr>
          <p:cNvPr id="3" name="Txt3"/>
          <p:cNvSpPr txBox="1"/>
          <p:nvPr/>
        </p:nvSpPr>
        <p:spPr>
          <a:xfrm>
            <a:off x="900000" y="3800000"/>
            <a:ext cx="104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1800" dirty="0">
                <a:solidFill>
                  <a:srgbClr val="445066"/>
                </a:solidFill>
                <a:latin typeface="Calibri"/>
              </a:rPr>
              <a:t>Distribución por tipo (I-A, I-B, I-C y II) y geolocalización por región</a:t>
            </a:r>
          </a:p>
          <a:p>
            <a:pPr marL="0" indent="0">
              <a:buNone/>
            </a:pPr>
            <a:r>
              <a:rPr lang="es-PE" sz="1400" dirty="0">
                <a:solidFill>
                  <a:srgbClr val="7A8699"/>
                </a:solidFill>
                <a:latin typeface="Calibri"/>
              </a:rPr>
              <a:t>Registro Nacional de Bancos de Sangre Autorizados · DIBAN - MINSA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Regiones del Perú y bancos de sangre autorizados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72" y="1000000"/>
            <a:ext cx="4145455" cy="5700000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6300000" y="1500000"/>
            <a:ext cx="5400000" cy="4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000" b="1" dirty="0">
                <a:solidFill>
                  <a:srgbClr val="1F2A44"/>
                </a:solidFill>
                <a:latin typeface="Calibri"/>
              </a:rPr>
              <a:t>509 bancos de sangre autorizados en 25 regiones</a:t>
            </a:r>
          </a:p>
          <a:p>
            <a:pPr marL="0" indent="0">
              <a:buFont typeface="Arial"/>
              <a:buChar char="•"/>
            </a:pPr>
            <a:r>
              <a:rPr lang="es-PE" sz="1800" dirty="0">
                <a:solidFill>
                  <a:srgbClr val="C2334D"/>
                </a:solidFill>
                <a:latin typeface="Calibri"/>
              </a:rPr>
              <a:t>Tipo I-A: 320</a:t>
            </a:r>
          </a:p>
          <a:p>
            <a:pPr marL="0" indent="0">
              <a:buFont typeface="Arial"/>
              <a:buChar char="•"/>
            </a:pPr>
            <a:r>
              <a:rPr lang="es-PE" sz="1800" dirty="0">
                <a:solidFill>
                  <a:srgbClr val="1F6F8B"/>
                </a:solidFill>
                <a:latin typeface="Calibri"/>
              </a:rPr>
              <a:t>Tipo I-B: 82</a:t>
            </a:r>
          </a:p>
          <a:p>
            <a:pPr marL="0" indent="0">
              <a:buFont typeface="Arial"/>
              <a:buChar char="•"/>
            </a:pPr>
            <a:r>
              <a:rPr lang="es-PE" sz="1800" dirty="0">
                <a:solidFill>
                  <a:srgbClr val="B7791F"/>
                </a:solidFill>
                <a:latin typeface="Calibri"/>
              </a:rPr>
              <a:t>Tipo I-C: 22</a:t>
            </a:r>
          </a:p>
          <a:p>
            <a:pPr marL="0" indent="0">
              <a:buFont typeface="Arial"/>
              <a:buChar char="•"/>
            </a:pPr>
            <a:r>
              <a:rPr lang="es-PE" sz="1800" dirty="0">
                <a:solidFill>
                  <a:srgbClr val="2F6B3F"/>
                </a:solidFill>
                <a:latin typeface="Calibri"/>
              </a:rPr>
              <a:t>Tipo II: 85</a:t>
            </a:r>
          </a:p>
          <a:p>
            <a:pPr marL="0" indent="0">
              <a:buNone/>
            </a:pPr>
            <a:r>
              <a:rPr lang="es-PE" sz="1500" dirty="0">
                <a:solidFill>
                  <a:srgbClr val="223344"/>
                </a:solidFill>
                <a:latin typeface="Calibri"/>
              </a:rPr>
              <a:t>Lima concentra 179 (35 %); Arequipa 35 y La Libertad 33 le siguen.</a:t>
            </a:r>
          </a:p>
          <a:p>
            <a:pPr marL="0" indent="0">
              <a:buNone/>
            </a:pPr>
            <a:r>
              <a:rPr lang="es-PE" sz="1200" dirty="0">
                <a:solidFill>
                  <a:srgbClr val="7A8699"/>
                </a:solidFill>
                <a:latin typeface="Calibri"/>
              </a:rPr>
              <a:t>Mapa: regiones delimitadas; el tono indica la cantidad de bancos y los puntos su ubicación (círculo = tipo I, cuadrado = tipo II).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Cantidad de bancos de sangre por región y tipo</a:t>
            </a:r>
          </a:p>
        </p:txBody>
      </p:sp>
      <p:graphicFrame>
        <p:nvGraphicFramePr>
          <p:cNvPr id="20" name="Tbl20"/>
          <p:cNvGraphicFramePr/>
          <p:nvPr/>
        </p:nvGraphicFramePr>
        <p:xfrm>
          <a:off x="1500000" y="900000"/>
          <a:ext cx="9200000" cy="1000000"/>
        </p:xfrm>
        <a:graphic>
          <a:graphicData uri="http://schemas.openxmlformats.org/drawingml/2006/table">
            <a:tbl>
              <a:tblPr firstRow="1" bandRow="1"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000"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FFFFFF"/>
                          </a:solidFill>
                          <a:latin typeface="Calibri"/>
                        </a:rPr>
                        <a:t>Región</a:t>
                      </a:r>
                    </a:p>
                  </a:txBody>
                  <a:tcPr marT="15000" marB="15000"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FFFFFF"/>
                          </a:solidFill>
                          <a:latin typeface="Calibri"/>
                        </a:rPr>
                        <a:t>Tipo I-A</a:t>
                      </a:r>
                    </a:p>
                  </a:txBody>
                  <a:tcPr marT="15000" marB="15000"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FFFFFF"/>
                          </a:solidFill>
                          <a:latin typeface="Calibri"/>
                        </a:rPr>
                        <a:t>Tipo I-B</a:t>
                      </a:r>
                    </a:p>
                  </a:txBody>
                  <a:tcPr marT="15000" marB="15000"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FFFFFF"/>
                          </a:solidFill>
                          <a:latin typeface="Calibri"/>
                        </a:rPr>
                        <a:t>Tipo I-C</a:t>
                      </a:r>
                    </a:p>
                  </a:txBody>
                  <a:tcPr marT="15000" marB="15000"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FFFFFF"/>
                          </a:solidFill>
                          <a:latin typeface="Calibri"/>
                        </a:rPr>
                        <a:t>Tipo II</a:t>
                      </a:r>
                    </a:p>
                  </a:txBody>
                  <a:tcPr marT="15000" marB="15000"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15000" marB="15000">
                    <a:solidFill>
                      <a:srgbClr val="2F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Amazonas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7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9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Áncash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14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Apurímac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7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Arequipa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27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Ayacucho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8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9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Cajamarca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17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Callao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Cusco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Huancavelica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Huánuco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7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Ica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18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Junín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La Libertad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7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Lambayeque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9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6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17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Lima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103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179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Loreto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7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Madre de Dios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Moquegua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Pasco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Piura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17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29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Puno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7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San Martín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14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6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22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Tacna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2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6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Tumbes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3</a:t>
                      </a:r>
                    </a:p>
                  </a:txBody>
                  <a:tcPr marT="15000" marB="15000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Ucayali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4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0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1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>
                          <a:latin typeface="Calibri"/>
                        </a:rPr>
                        <a:t>5</a:t>
                      </a:r>
                    </a:p>
                  </a:txBody>
                  <a:tcPr marT="15000" marB="1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r>
                        <a:rPr lang="es-PE" sz="900" b="1">
                          <a:latin typeface="Calibri"/>
                        </a:rPr>
                        <a:t>TOTAL</a:t>
                      </a:r>
                    </a:p>
                  </a:txBody>
                  <a:tcPr marT="15000" marB="15000">
                    <a:solidFill>
                      <a:srgbClr val="D8D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latin typeface="Calibri"/>
                        </a:rPr>
                        <a:t>320</a:t>
                      </a:r>
                    </a:p>
                  </a:txBody>
                  <a:tcPr marT="15000" marB="15000">
                    <a:solidFill>
                      <a:srgbClr val="D8D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latin typeface="Calibri"/>
                        </a:rPr>
                        <a:t>82</a:t>
                      </a:r>
                    </a:p>
                  </a:txBody>
                  <a:tcPr marT="15000" marB="15000">
                    <a:solidFill>
                      <a:srgbClr val="D8D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latin typeface="Calibri"/>
                        </a:rPr>
                        <a:t>22</a:t>
                      </a:r>
                    </a:p>
                  </a:txBody>
                  <a:tcPr marT="15000" marB="15000">
                    <a:solidFill>
                      <a:srgbClr val="D8D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latin typeface="Calibri"/>
                        </a:rPr>
                        <a:t>85</a:t>
                      </a:r>
                    </a:p>
                  </a:txBody>
                  <a:tcPr marT="15000" marB="15000">
                    <a:solidFill>
                      <a:srgbClr val="D8D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 b="1">
                          <a:latin typeface="Calibri"/>
                        </a:rPr>
                        <a:t>509</a:t>
                      </a:r>
                    </a:p>
                  </a:txBody>
                  <a:tcPr marT="15000" marB="15000">
                    <a:solidFill>
                      <a:srgbClr val="D8D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Composición por tipo en cada región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34" y="1000000"/>
            <a:ext cx="10133333" cy="57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Amazonas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9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7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7 (con banco: 4)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Bagua: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Utcubamba: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Chachapoyas: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Condorcanqui: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Bongara, Luya, Rodriguez De Mendoza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Áncash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20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3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3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20 (con banco: 10)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Santa: 8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Huaraz: 4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Carhuaz: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Casma: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Huari: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Huarmey: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Huaylas: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Pomabamba: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Recuay: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Yungay: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Aija, Antonio Raymondi, Asuncion, Bolognesi, Carlos Fermin Fitzcarrald, Corongo, Mariscal Luzuriaga, Ocros, Pallasca, Sihuas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Apurímac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7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3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3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7 (con banco: 3)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Abancay: 4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Andahuaylas: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Chincheros: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Antabamba, Aymaraes, Cotabambas, Grau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Arequipa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35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27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5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3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8 (con banco: 4)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Arequipa: 31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Islay: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Camana: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Caylloma: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Caraveli, Castilla, Condesuyos, La Union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Ayacucho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9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8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12 (con banco: 6)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Huamanga: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La Mar: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Cangallo: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Huanta: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Lucanas: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Parinacochas: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Huanca Sancos, Paucar Del Sara Sara, Sucre, Victor Fafardo, Victor Fajardo, Vilcas Huaman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Cajamarca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22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17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13 (con banco: 6)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Jaen: 9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Cajamarca: 6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Chota: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Cutervo: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Cajabamba: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Celendin: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Contumaza, Hualgayoc, San Ignacio, San Marcos, San Miguel, San Pablo, Santa Cruz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Callao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11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3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4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 (con banco: 1)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Callao: 11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Cusco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25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22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3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13 (con banco: 5)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Cusco: 15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La Convencion: 5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Canchis: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Espinar: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Chumbivilcas: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Acomayo, Anta, Calca, Canas, Paruro, Paucartambo, Quispicanchi, Urubamba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Huancavelica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5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7 (con banco: 4)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Huancavelica: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Acobamba: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Angaraes: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Tayacaja: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Castrovirreyna, Churcampa, Huaytara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Huánuco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10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7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11 (con banco: 3)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Huanuco: 7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Leoncio Prado: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Dos De Mayo: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Ambo, Huacaybamba, Huamalies, Lauricocha, Marañon, Pachitea, Puerto Inca, Yarowilca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Ica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18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5 (con banco: 3)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Ica: 11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Chincha: 6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Pisco: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Nazca, Palpa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Junín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20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5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4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9 (con banco: 7)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Huancayo: 12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Chanchamayo: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Jauja: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Concepcion: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Junin: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Satipo: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Yauli: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Chupaca, Tarma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La Libertad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33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20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7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4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12 (con banco: 8)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Trujillo: 26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Ascope: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Chepen: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Otuzco: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Pacasmayo: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Sanchez Carrion: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Santiago De Chuco: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Viru: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Bolivar, Gran Chimu, Julcan, Pataz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Lambayeque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17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9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6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3 (con banco: 2)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Chiclayo: 16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Lambayeque: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Ferreñafe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Lima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179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103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34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11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31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10 (con banco: 6)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Lima: 171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Huaura: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Cañete: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Barranca: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Huaral: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Huarochiri: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Cajatambo, Canta, Oyon, Yauyos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Loreto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7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5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7 (con banco: 2)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Maynas: 6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Alto Amazonas: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Datem Del Marañon, Loreto, Mariscal Ramon Castilla, Requena, Ucayali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Madre de Dios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3 (con banco: 1)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Tambopata: 2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Manu, Tahuamanu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Moquegua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4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3 (con banco: 2)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Mariscal Nieto: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Ilo: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General Sanchez Cerro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Pasco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4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3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3 (con banco: 2)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Oxapampa: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Pasco: 2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Daniel Alcides Carrion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Piura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29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17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5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2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5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9 (con banco: 5)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Piura: 17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Sullana: 7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Morropon: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Talara: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Paita: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Ayabaca, Huancabamba, Puira, Sechura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Puno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7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3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13 (con banco: 3)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San Roman: 4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Puno: 2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Carabaya: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Azangaro, Chucuito, El Collao, Huancane, Lampa, Melgar, Moho, San Antonio De Putina, Sandia, Yunguyo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San Martín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22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6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10 (con banco: 8)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San Martin: 10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Rioja: 4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Moyobamba: 3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Bellavista: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Huallaga: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Mariscal Caceres: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Picota: 1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Tocache: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El Dorado, Lamas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Tacna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6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2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4 (con banco: 1)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Tacna: 6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Candarave, Jorge Basadre, Tarata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Tumbes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3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1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3 (con banco: 1)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Tumbes: 3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Contralmirante Villar, Zarumilla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Ucayali · provincias y ubicación de los bancos de sangre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950000"/>
            <a:ext cx="3900000" cy="5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200" b="1" dirty="0">
                <a:solidFill>
                  <a:srgbClr val="1F2A44"/>
                </a:solidFill>
                <a:latin typeface="Calibri"/>
              </a:rPr>
              <a:t>5 bancos de sangre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C2334D"/>
                </a:solidFill>
                <a:latin typeface="Calibri"/>
              </a:rPr>
              <a:t>Tipo I-A: 4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1F6F8B"/>
                </a:solidFill>
                <a:latin typeface="Calibri"/>
              </a:rPr>
              <a:t>Tipo I-B: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B7791F"/>
                </a:solidFill>
                <a:latin typeface="Calibri"/>
              </a:rPr>
              <a:t>Tipo I-C: 0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F6B3F"/>
                </a:solidFill>
                <a:latin typeface="Calibri"/>
              </a:rPr>
              <a:t>Tipo II: 1</a:t>
            </a:r>
          </a:p>
          <a:p>
            <a:pPr marL="0" indent="0">
              <a:buNone/>
            </a:pPr>
            <a:r>
              <a:rPr lang="es-PE" sz="1300" b="1" dirty="0">
                <a:solidFill>
                  <a:srgbClr val="445066"/>
                </a:solidFill>
                <a:latin typeface="Calibri"/>
              </a:rPr>
              <a:t>Provincias: 4 (con banco: 2)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Coronel Portillo: 4</a:t>
            </a:r>
          </a:p>
          <a:p>
            <a:pPr marL="0" indent="0">
              <a:buFont typeface="Arial"/>
              <a:buChar char="•"/>
            </a:pPr>
            <a:r>
              <a:rPr lang="es-PE" sz="1200" dirty="0">
                <a:solidFill>
                  <a:srgbClr val="223344"/>
                </a:solidFill>
                <a:latin typeface="Calibri"/>
              </a:rPr>
              <a:t>Atalaya: 1</a:t>
            </a:r>
          </a:p>
          <a:p>
            <a:pPr marL="0" indent="0">
              <a:buNone/>
            </a:pPr>
            <a:r>
              <a:rPr lang="es-PE" sz="1000" dirty="0">
                <a:solidFill>
                  <a:srgbClr val="7A8699"/>
                </a:solidFill>
                <a:latin typeface="Calibri"/>
              </a:rPr>
              <a:t>Sin bancos: Padre Abad, Purus</a:t>
            </a:r>
          </a:p>
          <a:p>
            <a:pPr marL="0" indent="0">
              <a:buNone/>
            </a:pPr>
            <a:r>
              <a:rPr lang="es-PE" sz="900" dirty="0">
                <a:solidFill>
                  <a:srgbClr val="7A8699"/>
                </a:solidFill>
                <a:latin typeface="Calibri"/>
              </a:rPr>
              <a:t>Círculo = tipo I · cuadrado = tipo II · el número es la cantidad de bancos en un mismo punto. Ubicación aproximada al distrito declarado.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Lima Metropolitana · detalle ampliado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085714"/>
            <a:ext cx="7600000" cy="5428571"/>
          </a:xfrm>
          <a:prstGeom prst="rect">
            <a:avLst/>
          </a:prstGeom>
        </p:spPr>
      </p:pic>
      <p:sp>
        <p:nvSpPr>
          <p:cNvPr id="11" name="Txt11"/>
          <p:cNvSpPr txBox="1"/>
          <p:nvPr/>
        </p:nvSpPr>
        <p:spPr>
          <a:xfrm>
            <a:off x="8100000" y="1000000"/>
            <a:ext cx="3800000" cy="5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1800" b="1" dirty="0">
                <a:solidFill>
                  <a:srgbClr val="1F2A44"/>
                </a:solidFill>
                <a:latin typeface="Calibri"/>
              </a:rPr>
              <a:t>169 de los 179 bancos de Lima están en esta área</a:t>
            </a:r>
          </a:p>
          <a:p>
            <a:pPr marL="0" indent="0">
              <a:buFont typeface="Arial"/>
              <a:buChar char="•"/>
            </a:pPr>
            <a:r>
              <a:rPr lang="es-PE" sz="1700" dirty="0">
                <a:solidFill>
                  <a:srgbClr val="C2334D"/>
                </a:solidFill>
                <a:latin typeface="Calibri"/>
              </a:rPr>
              <a:t>Tipo I-A: 99</a:t>
            </a:r>
          </a:p>
          <a:p>
            <a:pPr marL="0" indent="0">
              <a:buFont typeface="Arial"/>
              <a:buChar char="•"/>
            </a:pPr>
            <a:r>
              <a:rPr lang="es-PE" sz="1700" dirty="0">
                <a:solidFill>
                  <a:srgbClr val="1F6F8B"/>
                </a:solidFill>
                <a:latin typeface="Calibri"/>
              </a:rPr>
              <a:t>Tipo I-B: 31</a:t>
            </a:r>
          </a:p>
          <a:p>
            <a:pPr marL="0" indent="0">
              <a:buFont typeface="Arial"/>
              <a:buChar char="•"/>
            </a:pPr>
            <a:r>
              <a:rPr lang="es-PE" sz="1700" dirty="0">
                <a:solidFill>
                  <a:srgbClr val="B7791F"/>
                </a:solidFill>
                <a:latin typeface="Calibri"/>
              </a:rPr>
              <a:t>Tipo I-C: 10</a:t>
            </a:r>
          </a:p>
          <a:p>
            <a:pPr marL="0" indent="0">
              <a:buFont typeface="Arial"/>
              <a:buChar char="•"/>
            </a:pPr>
            <a:r>
              <a:rPr lang="es-PE" sz="1700" dirty="0">
                <a:solidFill>
                  <a:srgbClr val="2F6B3F"/>
                </a:solidFill>
                <a:latin typeface="Calibri"/>
              </a:rPr>
              <a:t>Tipo II: 29</a:t>
            </a:r>
          </a:p>
          <a:p>
            <a:pPr marL="0" indent="0">
              <a:buNone/>
            </a:pPr>
            <a:r>
              <a:rPr lang="es-PE" sz="1300" dirty="0">
                <a:solidFill>
                  <a:srgbClr val="445066"/>
                </a:solidFill>
                <a:latin typeface="Calibri"/>
              </a:rPr>
              <a:t>Vista ampliada de Lima Metropolitana (y Callao), donde se concentra la mayor parte de los bancos de sangre del país.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Fuentes y notas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500000" y="1200000"/>
            <a:ext cx="11000000" cy="45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23344"/>
                </a:solidFill>
                <a:latin typeface="Calibri"/>
              </a:rPr>
              <a:t>Bancos de sangre: Registro Nacional de Bancos de Sangre Autorizados (hojas BS I A, BS I B, BS I C y BS II), 509 establecimientos.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23344"/>
                </a:solidFill>
                <a:latin typeface="Calibri"/>
              </a:rPr>
              <a:t>Coordenadas aproximadas al centro del distrito declarado; no corresponden a la dirección exacta.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23344"/>
                </a:solidFill>
                <a:latin typeface="Calibri"/>
              </a:rPr>
              <a:t>Límites regionales: capa departamental simplificada del Perú (GeoJSON); sin mapa base de calles.</a:t>
            </a:r>
          </a:p>
          <a:p>
            <a:pPr marL="0" indent="0">
              <a:buFont typeface="Arial"/>
              <a:buChar char="•"/>
            </a:pPr>
            <a:r>
              <a:rPr lang="es-PE" sz="1600" dirty="0">
                <a:solidFill>
                  <a:srgbClr val="223344"/>
                </a:solidFill>
                <a:latin typeface="Calibri"/>
              </a:rPr>
              <a:t>Aplicativo: https://rojasarca-code.github.io/geolocalizacion-bancos-sangre-diban/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A44"/>
      </a:dk2>
      <a:lt2>
        <a:srgbClr val="EEF1F6"/>
      </a:lt2>
      <a:accent1>
        <a:srgbClr val="2F3B52"/>
      </a:accent1>
      <a:accent2>
        <a:srgbClr val="B03A2E"/>
      </a:accent2>
      <a:accent3>
        <a:srgbClr val="4C6272"/>
      </a:accent3>
      <a:accent4>
        <a:srgbClr val="8497B0"/>
      </a:accent4>
      <a:accent5>
        <a:srgbClr val="A5A5A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Microsoft Office PowerPoint</Application>
  <PresentationFormat>Panorámica</PresentationFormat>
  <Paragraphs>510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Roberto</cp:lastModifiedBy>
  <cp:revision>1</cp:revision>
  <dcterms:modified xsi:type="dcterms:W3CDTF">2026-10-22T15:18:51Z</dcterms:modified>
</cp:coreProperties>
</file>