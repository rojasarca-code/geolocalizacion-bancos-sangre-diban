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ulo"/>
          <p:cNvSpPr>
            <a:spLocks noGrp="1"/>
          </p:cNvSpPr>
          <p:nvPr/>
        </p:nvSpPr>
        <p:spPr>
          <a:xfrm>
            <a:off x="900000" y="2400000"/>
            <a:ext cx="10400000" cy="1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4000" b="1" dirty="0">
                <a:solidFill>
                  <a:srgbClr val="1F2A44"/>
                </a:solidFill>
                <a:latin typeface="Calibri"/>
              </a:rPr>
              <a:t>Convenios de sangre BS II -&gt; BS I: tiempos de traslado por via</a:t>
            </a:r>
            <a:endParaRPr lang="es-PE" sz="4000"/>
          </a:p>
        </p:txBody>
      </p:sp>
      <p:sp>
        <p:nvSpPr>
          <p:cNvPr id="12" name="Sub"/>
          <p:cNvSpPr>
            <a:spLocks noGrp="1"/>
          </p:cNvSpPr>
          <p:nvPr/>
        </p:nvSpPr>
        <p:spPr>
          <a:xfrm>
            <a:off x="900000" y="3900000"/>
            <a:ext cx="104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800" dirty="0">
                <a:solidFill>
                  <a:srgbClr val="445066"/>
                </a:solidFill>
                <a:latin typeface="Calibri"/>
              </a:rPr>
              <a:t>Reporte de rangos de tiempo terrestre, aereo y acuatico</a:t>
            </a:r>
            <a:endParaRPr lang="es-PE" sz="1800"/>
          </a:p>
          <a:p>
            <a:pPr marL="0" lvl="0">
              <a:buNone/>
            </a:pPr>
            <a:r>
              <a:rPr lang="es-PE" sz="1400" dirty="0">
                <a:solidFill>
                  <a:srgbClr val="7A8699"/>
                </a:solidFill>
                <a:latin typeface="Calibri"/>
              </a:rPr>
              <a:t>Verificacion semaforo de convenios (agosto 2026) - 2026-09-04</a:t>
            </a:r>
            <a:endParaRPr lang="es-PE" sz="14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Resumen general</a:t>
            </a:r>
            <a:endParaRPr lang="es-PE" sz="2600"/>
          </a:p>
        </p:txBody>
      </p:sp>
      <p:sp>
        <p:nvSpPr>
          <p:cNvPr id="40" name="b"/>
          <p:cNvSpPr>
            <a:spLocks noGrp="1"/>
          </p:cNvSpPr>
          <p:nvPr/>
        </p:nvSpPr>
        <p:spPr>
          <a:xfrm>
            <a:off x="640000" y="150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278 convenios evaluados (banco productor tipo II -&gt; hospital receptor tipo I).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248 con ruta terrestre calculada. Ningun convenio resulto sin acceso por carretera.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18 con opcion de via aerea util (origen y destino en ciudades con aeropuertos distintos).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0 convenios requieren o permiten via acuatica: en todos los casos hay carretera y ningun par tiene puertos fluviales navegables distintos a &lt;=150 km.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30 sin dato: el hospital receptor no figura con ubicacion en el Registro Nacional (RENIPRESS no encontrado).</a:t>
            </a:r>
            <a:endParaRPr lang="es-PE" sz="1600"/>
          </a:p>
          <a:p>
            <a:pPr marL="0" lvl="0">
              <a:buNone/>
            </a:pPr>
            <a:r>
              <a:rPr lang="es-PE" sz="1200" dirty="0">
                <a:solidFill>
                  <a:srgbClr val="7A8699"/>
                </a:solidFill>
                <a:latin typeface="Calibri"/>
              </a:rPr>
              <a:t>Metodo: ruta real de carretera (OSRM) corregida por altitud del trayecto (open-meteo) y paradas; via aerea con aeropuerto mas cercano y escala en Lima cuando aplica.</a:t>
            </a:r>
            <a:endParaRPr lang="es-PE" sz="12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terrestre - distribucion de tiempos</a:t>
            </a:r>
            <a:endParaRPr lang="es-PE" sz="2600"/>
          </a:p>
        </p:txBody>
      </p:sp>
      <p:sp>
        <p:nvSpPr>
          <p:cNvPr id="50" name="b"/>
          <p:cNvSpPr>
            <a:spLocks noGrp="1"/>
          </p:cNvSpPr>
          <p:nvPr/>
        </p:nvSpPr>
        <p:spPr>
          <a:xfrm>
            <a:off x="640000" y="1330000"/>
            <a:ext cx="10900000" cy="4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Distribucion de los 248 convenios por tiempo de traslado terrestre (auto particular):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Hasta 1 h ............ 189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1 a 3 h .............. 37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3 a 6 h .............. 11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6 a 12 h ............. 6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12 a 24 h ............ 4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B03A2E"/>
                </a:solidFill>
                <a:latin typeface="Calibri"/>
              </a:rPr>
              <a:t>Mas de 24 h ......... 1</a:t>
            </a:r>
            <a:endParaRPr lang="es-PE" sz="1400"/>
          </a:p>
          <a:p>
            <a:pPr marL="0" lvl="0">
              <a:buNone/>
            </a:pPr>
            <a:r>
              <a:rPr lang="es-PE" sz="1300" dirty="0">
                <a:solidFill>
                  <a:srgbClr val="7A8699"/>
                </a:solidFill>
                <a:latin typeface="Calibri"/>
              </a:rPr>
              <a:t>Conjunto completo (248 convenios): mediana 0 h 26 min, media 1 h 27 min.</a:t>
            </a:r>
            <a:endParaRPr lang="es-PE" sz="1300"/>
          </a:p>
          <a:p>
            <a:pPr marL="0" lvl="0">
              <a:buNone/>
            </a:pPr>
            <a:r>
              <a:rPr lang="es-PE" sz="1500" b="1" dirty="0">
                <a:solidFill>
                  <a:srgbClr val="1F2A44"/>
                </a:solidFill>
                <a:latin typeface="Calibri"/>
              </a:rPr>
              <a:t>IPRESS con traslado terrestre mayor a 1 h: 59 convenios (24 % del total).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En ese grupo la mediana del tiempo de ruta es 2 h 30 min y la media es 4 h 52 min.</a:t>
            </a:r>
            <a:endParaRPr lang="es-PE" sz="1500"/>
          </a:p>
          <a:p>
            <a:pPr marL="0" lvl="0">
              <a:buNone/>
            </a:pPr>
            <a:r>
              <a:rPr lang="es-PE" sz="1200" dirty="0">
                <a:solidFill>
                  <a:srgbClr val="7A8699"/>
                </a:solidFill>
                <a:latin typeface="Calibri"/>
              </a:rPr>
              <a:t>La media es mayor que la mediana porque unos pocos convenios inter-regionales de sierra y selva (12 h a 2 dias) elevan el promedio; para la mitad del grupo el traslado sigue por debajo de 2 h 30 min.</a:t>
            </a:r>
            <a:endParaRPr lang="es-PE" sz="12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terrestre - 12 rutas mas largas</a:t>
            </a:r>
            <a:endParaRPr lang="es-PE" sz="2600"/>
          </a:p>
        </p:txBody>
      </p:sp>
      <p:graphicFrame>
        <p:nvGraphicFramePr>
          <p:cNvPr id="201" name="Tbl1"/>
          <p:cNvGraphicFramePr/>
          <p:nvPr/>
        </p:nvGraphicFramePr>
        <p:xfrm>
          <a:off x="500000" y="1350000"/>
          <a:ext cx="11200000" cy="1000000"/>
        </p:xfrm>
        <a:graphic>
          <a:graphicData uri="http://schemas.openxmlformats.org/drawingml/2006/table">
            <a:tbl>
              <a:tblPr firstRow="1" bandRow="1"/>
              <a:tblGrid>
                <a:gridCol w="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Banco productor (BS II)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Hospital receptor (BS I)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Km carretera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Tiempo terrestre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Terreno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CARLOS MONGE MED…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SANTA MARIA DE NIEVA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2,546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 d 5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paso de altura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CLÍNICAS AUNA SEDE PIURA -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977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 h 21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SAN BORJA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SANNA - CLINICA BELEN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 h 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CLINICAS AUNA SEDE VALLE…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993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 h 36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tramos de altura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GSP TRUJILLO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14 h 56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REGIONAL DOCENTE…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CAMINO REAL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559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10 h 24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QUILLABAMBA-ESSALUD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57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SR DE TORRECHAYOC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202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57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ESPINAR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09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Regional de Ayac…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SAN JUAN DE KIMBIRI-VRAEM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186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04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II PASCO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 OXAPAMPA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02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Regional de Ayac…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APOYO SAN FRA…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175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25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aerea - 18 convenios con opcion aerea (por tiempo)</a:t>
            </a:r>
            <a:endParaRPr lang="es-PE" sz="2600"/>
          </a:p>
        </p:txBody>
      </p:sp>
      <p:graphicFrame>
        <p:nvGraphicFramePr>
          <p:cNvPr id="202" name="Tbl2"/>
          <p:cNvGraphicFramePr/>
          <p:nvPr/>
        </p:nvGraphicFramePr>
        <p:xfrm>
          <a:off x="500000" y="1350000"/>
          <a:ext cx="11200000" cy="1000000"/>
        </p:xfrm>
        <a:graphic>
          <a:graphicData uri="http://schemas.openxmlformats.org/drawingml/2006/table">
            <a:tbl>
              <a:tblPr firstRow="1" bandRow="1"/>
              <a:tblGrid>
                <a:gridCol w="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Ruta aerea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Km de vuelo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Tiempo puerta a puerta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Receptor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Juliaca (JUL) -&gt; LIM -&gt; Jaén (JAE)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1,581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 h 08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SANTA MARIA DE NIEVA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Jauja (JAU) -&gt; LIM -&gt; Ayacucho (AYP)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520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49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LIRCAY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Tacna (TCQ) -&gt; LIM -&gt; Ilo (ILQ)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1,879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42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II Moquegua -…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Jauja (JAU) -&gt; LIM -&gt; Ayacucho (AYP)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520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34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PROVINCIAL DE…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Lima (LIM) -&gt; Huaraz (Anta) (ATA)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BARRANCA CAJAT…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Trujillo (TRU) -&gt; LIM -&gt; Chiclayo (CIX)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1,143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31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TOMAS LA FORA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35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MOYOBAMBA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274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33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CENTRO MEDICO LUZ DIVINA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29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YANTALO 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10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Nombre comercial: Centr…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aerea - lectura de los resultados</a:t>
            </a:r>
            <a:endParaRPr lang="es-PE" sz="2600"/>
          </a:p>
        </p:txBody>
      </p:sp>
      <p:sp>
        <p:nvSpPr>
          <p:cNvPr id="6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La via aerea solo se evalua cuando origen y destino usan aeropuertos distintos con servicio comercial; por eso solo 18 de 278 convenios la tienen.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Rutas largas reales donde el avion es la opcion sensata (el terrestre de la misma fila es varias veces mas largo): Juliaca-Jaen (JUL-JAE, 9 h 08 vs 2 d 5 h por tierra), Lima-Piura (LIM-PIU, 2 h 44-2 h 48 vs 18 h 20-18 h 21 por tierra), Lima-Arequipa (LIM-AQP, 3 h 06 vs 17 h 36), Lima-Chiclayo (LIM-CIX, 2 h 39 vs 14 h 56), Trujillo-Lima (TRU-LIM, 2 h 38 vs 10 h 24).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B03A2E"/>
                </a:solidFill>
                <a:latin typeface="Calibri"/>
              </a:rPr>
              <a:t>Casos con numero alto pero poco realistas (el terrestre de la misma fila es mas corto: el aeropuerto mas cercano queda lejos o exige escala en Lima): Jauja-Ayacucho (JAU-AYP, 7 h 34-7 h 49 vs 4 h 27-5 h 14 por tierra), Tacna-Ilo (TCQ-ILQ, 7 h 42 vs 3 h 36), Lima-Huaraz/Anta (LIM-ATA, 7 h 10 vs solo 1 h por tierra), Trujillo-Chiclayo via Lima (6 h 31 vs 2 h 35), Tarapoto-Rioja via Lima (5 h 10-5 h 35 vs 2 h 05-2 h 57).</a:t>
            </a:r>
            <a:endParaRPr lang="es-PE" sz="1400"/>
          </a:p>
          <a:p>
            <a:pPr marL="0" lvl="0">
              <a:buNone/>
            </a:pPr>
            <a:r>
              <a:rPr lang="es-PE" sz="1300" dirty="0">
                <a:solidFill>
                  <a:srgbClr val="7A8699"/>
                </a:solidFill>
                <a:latin typeface="Calibri"/>
              </a:rPr>
              <a:t>Para decisiones operativas conviene comparar el tiempo aereo puerta a puerta contra el terrestre de la misma fila del Excel.</a:t>
            </a:r>
            <a:endParaRPr lang="es-PE" sz="13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acuatica (fluvial)</a:t>
            </a:r>
            <a:endParaRPr lang="es-PE" sz="2600"/>
          </a:p>
        </p:txBody>
      </p:sp>
      <p:sp>
        <p:nvSpPr>
          <p:cNvPr id="7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700" b="1" dirty="0">
                <a:solidFill>
                  <a:srgbClr val="1F2A44"/>
                </a:solidFill>
                <a:latin typeface="Calibri"/>
              </a:rPr>
              <a:t>Ningun convenio vigente requiere ni permite via acuatica.</a:t>
            </a:r>
            <a:endParaRPr lang="es-PE" sz="17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En los 248 convenios geolocalizados, para cada par se busco un puerto fluvial navegable a &lt;=150 km de cada extremo y una ruta de rio entre ambos (red curada: Yurimaguas, Iquitos, Pucallpa, Nauta, Contamana, etc.).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Resultado: 231 convenios no tienen puerto navegable cerca de al menos un extremo; 17 (San Martin) tienen ambos extremos junto al mismo puerto. En todos hay carretera.</a:t>
            </a:r>
            <a:endParaRPr lang="es-PE" sz="1500"/>
          </a:p>
          <a:p>
            <a:pPr marL="0" lvl="0">
              <a:buNone/>
            </a:pPr>
            <a:r>
              <a:rPr lang="es-PE" sz="1300" dirty="0">
                <a:solidFill>
                  <a:srgbClr val="7A8699"/>
                </a:solidFill>
                <a:latin typeface="Calibri"/>
              </a:rPr>
              <a:t>La via acuatica seguiria siendo relevante solo si a futuro se firmara un convenio entre, por ejemplo, un banco de Iquitos y un hospital de Pucallpa o del bajo Maranon.</a:t>
            </a:r>
            <a:endParaRPr lang="es-PE" sz="13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Conclusiones y recomendaciones</a:t>
            </a:r>
            <a:endParaRPr lang="es-PE" sz="2600"/>
          </a:p>
        </p:txBody>
      </p:sp>
      <p:sp>
        <p:nvSpPr>
          <p:cNvPr id="8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B03A2E"/>
                </a:solidFill>
                <a:latin typeface="Calibri"/>
              </a:rPr>
              <a:t>El convenio con mayor tiempo terrestre es N 253: HOSPITAL CARLOS MONGE MEDRANO -&gt; SANTA MARIA DE NIEVA (2,546 km, 2 d 5 h).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Los convenios inter-regionales de sierra (Cusco, Ayacucho, Puno, Ancash) concentran los tiempos terrestres mas altos por el factor de altitud.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De los 18 convenios con opcion aerea, en 5 el avion realmente reduce el tiempo puerta a puerta frente al terrestre (todos con Lima de por medio); en los demas el terrestre sigue siendo mas rapido pese a la distancia de vuelo. En los que no tienen opcion aerea el traslado es y debe seguir siendo por carretera.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Recomendaciones: (1) priorizar la actualizacion de ubicacion RENIPRESS de los 30 receptores sin dato; (2) revisar la pertinencia operativa de convenios con traslado terrestre &gt; 12 h; (3) el detalle fila a fila esta en el Excel adjunto.</a:t>
            </a:r>
            <a:endParaRPr lang="es-PE" sz="14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2A44"/>
      </a:dk2>
      <a:lt2>
        <a:srgbClr val="EEF1F6"/>
      </a:lt2>
      <a:accent1>
        <a:srgbClr val="2F3B52"/>
      </a:accent1>
      <a:accent2>
        <a:srgbClr val="B03A2E"/>
      </a:accent2>
      <a:accent3>
        <a:srgbClr val="4C6272"/>
      </a:accent3>
      <a:accent4>
        <a:srgbClr val="8497B0"/>
      </a:accent4>
      <a:accent5>
        <a:srgbClr val="A5A5A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1329</Words>
  <Application>Microsoft Office PowerPoint</Application>
  <PresentationFormat>Panorámica</PresentationFormat>
  <Paragraphs>172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Roberto</cp:lastModifiedBy>
  <cp:revision>1</cp:revision>
  <dcterms:modified xsi:type="dcterms:W3CDTF">2026-09-04T20:23:30Z</dcterms:modified>
</cp:coreProperties>
</file>