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ulo"/>
          <p:cNvSpPr>
            <a:spLocks noGrp="1"/>
          </p:cNvSpPr>
          <p:nvPr/>
        </p:nvSpPr>
        <p:spPr>
          <a:xfrm>
            <a:off x="900000" y="2400000"/>
            <a:ext cx="10400000" cy="1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lvl="0">
              <a:buNone/>
            </a:pPr>
            <a:r>
              <a:rPr lang="es-PE" sz="4000" b="1" dirty="0">
                <a:solidFill>
                  <a:srgbClr val="1F2A44"/>
                </a:solidFill>
                <a:latin typeface="Calibri"/>
              </a:rPr>
              <a:t>Convenios de sangre BS II -&gt; BS I: tiempos de traslado por via</a:t>
            </a:r>
            <a:endParaRPr lang="es-PE" sz="4000"/>
          </a:p>
        </p:txBody>
      </p:sp>
      <p:sp>
        <p:nvSpPr>
          <p:cNvPr id="12" name="Sub"/>
          <p:cNvSpPr>
            <a:spLocks noGrp="1"/>
          </p:cNvSpPr>
          <p:nvPr/>
        </p:nvSpPr>
        <p:spPr>
          <a:xfrm>
            <a:off x="900000" y="3900000"/>
            <a:ext cx="10400000" cy="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lvl="0">
              <a:buNone/>
            </a:pPr>
            <a:r>
              <a:rPr lang="es-PE" sz="1800" dirty="0">
                <a:solidFill>
                  <a:srgbClr val="445066"/>
                </a:solidFill>
                <a:latin typeface="Calibri"/>
              </a:rPr>
              <a:t>Reporte de rangos de tiempo terrestre, aereo y acuatico</a:t>
            </a:r>
            <a:endParaRPr lang="es-PE" sz="1800"/>
          </a:p>
          <a:p>
            <a:pPr marL="0" lvl="0">
              <a:buNone/>
            </a:pPr>
            <a:r>
              <a:rPr lang="es-PE" sz="1400" dirty="0">
                <a:solidFill>
                  <a:srgbClr val="7A8699"/>
                </a:solidFill>
                <a:latin typeface="Calibri"/>
              </a:rPr>
              <a:t>Verificacion semaforo de convenios (agosto 2026) - 2026-09-03</a:t>
            </a:r>
            <a:endParaRPr lang="es-PE" sz="14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ulo"/>
          <p:cNvSpPr>
            <a:spLocks noGrp="1"/>
          </p:cNvSpPr>
          <p:nvPr/>
        </p:nvSpPr>
        <p:spPr>
          <a:xfrm>
            <a:off x="640000" y="360000"/>
            <a:ext cx="10900000" cy="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lvl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Resumen general</a:t>
            </a:r>
            <a:endParaRPr lang="es-PE" sz="2600"/>
          </a:p>
        </p:txBody>
      </p:sp>
      <p:sp>
        <p:nvSpPr>
          <p:cNvPr id="40" name="b"/>
          <p:cNvSpPr>
            <a:spLocks noGrp="1"/>
          </p:cNvSpPr>
          <p:nvPr/>
        </p:nvSpPr>
        <p:spPr>
          <a:xfrm>
            <a:off x="640000" y="1500000"/>
            <a:ext cx="10900000" cy="46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lvl="0">
              <a:buFont typeface="Arial"/>
              <a:buChar char="•"/>
            </a:pPr>
            <a:r>
              <a:rPr lang="es-PE" sz="1600" dirty="0">
                <a:solidFill>
                  <a:srgbClr val="022300"/>
                </a:solidFill>
                <a:latin typeface="Calibri"/>
              </a:rPr>
              <a:t>278 convenios evaluados (banco productor tipo II -&gt; hospital receptor tipo I).</a:t>
            </a:r>
            <a:endParaRPr lang="es-PE" sz="1600"/>
          </a:p>
          <a:p>
            <a:pPr marL="0" lvl="0">
              <a:buFont typeface="Arial"/>
              <a:buChar char="•"/>
            </a:pPr>
            <a:r>
              <a:rPr lang="es-PE" sz="1600" dirty="0">
                <a:solidFill>
                  <a:srgbClr val="022300"/>
                </a:solidFill>
                <a:latin typeface="Calibri"/>
              </a:rPr>
              <a:t>246 con ruta terrestre calculada. Ningun convenio resulto sin acceso por carretera.</a:t>
            </a:r>
            <a:endParaRPr lang="es-PE" sz="1600"/>
          </a:p>
          <a:p>
            <a:pPr marL="0" lvl="0">
              <a:buFont typeface="Arial"/>
              <a:buChar char="•"/>
            </a:pPr>
            <a:r>
              <a:rPr lang="es-PE" sz="1600" dirty="0">
                <a:solidFill>
                  <a:srgbClr val="022300"/>
                </a:solidFill>
                <a:latin typeface="Calibri"/>
              </a:rPr>
              <a:t>20 con opcion de via aerea util (origen y destino en ciudades con aeropuertos distintos).</a:t>
            </a:r>
            <a:endParaRPr lang="es-PE" sz="1600"/>
          </a:p>
          <a:p>
            <a:pPr marL="0" lvl="0">
              <a:buFont typeface="Arial"/>
              <a:buChar char="•"/>
            </a:pPr>
            <a:r>
              <a:rPr lang="es-PE" sz="1600" dirty="0">
                <a:solidFill>
                  <a:srgbClr val="022300"/>
                </a:solidFill>
                <a:latin typeface="Calibri"/>
              </a:rPr>
              <a:t>0 convenios requieren o permiten via acuatica: en todos los casos hay carretera y ningun par tiene puertos fluviales navegables distintos a &lt;=150 km.</a:t>
            </a:r>
            <a:endParaRPr lang="es-PE" sz="1600"/>
          </a:p>
          <a:p>
            <a:pPr marL="0" lvl="0">
              <a:buFont typeface="Arial"/>
              <a:buChar char="•"/>
            </a:pPr>
            <a:r>
              <a:rPr lang="es-PE" sz="1600" dirty="0">
                <a:solidFill>
                  <a:srgbClr val="022300"/>
                </a:solidFill>
                <a:latin typeface="Calibri"/>
              </a:rPr>
              <a:t>32 sin dato: el hospital receptor no figura con ubicacion en el Registro Nacional (RENIPRESS no encontrado).</a:t>
            </a:r>
            <a:endParaRPr lang="es-PE" sz="1600"/>
          </a:p>
          <a:p>
            <a:pPr marL="0" lvl="0">
              <a:buNone/>
            </a:pPr>
            <a:r>
              <a:rPr lang="es-PE" sz="1200" dirty="0">
                <a:solidFill>
                  <a:srgbClr val="7A8699"/>
                </a:solidFill>
                <a:latin typeface="Calibri"/>
              </a:rPr>
              <a:t>Metodo: ruta real de carretera (OSRM) corregida por altitud del trayecto (open-meteo) y paradas; via aerea con aeropuerto mas cercano y escala en Lima cuando aplica.</a:t>
            </a:r>
            <a:endParaRPr lang="es-PE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ulo"/>
          <p:cNvSpPr>
            <a:spLocks noGrp="1"/>
          </p:cNvSpPr>
          <p:nvPr/>
        </p:nvSpPr>
        <p:spPr>
          <a:xfrm>
            <a:off x="640000" y="360000"/>
            <a:ext cx="10900000" cy="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lvl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Via terrestre - distribucion de tiempos</a:t>
            </a:r>
            <a:endParaRPr lang="es-PE" sz="2600"/>
          </a:p>
        </p:txBody>
      </p:sp>
      <p:sp>
        <p:nvSpPr>
          <p:cNvPr id="50" name="b"/>
          <p:cNvSpPr>
            <a:spLocks noGrp="1"/>
          </p:cNvSpPr>
          <p:nvPr/>
        </p:nvSpPr>
        <p:spPr>
          <a:xfrm>
            <a:off x="640000" y="1450000"/>
            <a:ext cx="10900000" cy="46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lvl="0">
              <a:buNone/>
            </a:pPr>
            <a:r>
              <a:rPr lang="es-PE" sz="1500" dirty="0">
                <a:solidFill>
                  <a:srgbClr val="022300"/>
                </a:solidFill>
                <a:latin typeface="Calibri"/>
              </a:rPr>
              <a:t>Distribucion de los 246 convenios por tiempo de traslado terrestre (auto particular):</a:t>
            </a:r>
            <a:endParaRPr lang="es-PE" sz="1500"/>
          </a:p>
          <a:p>
            <a:pPr marL="0" lvl="0">
              <a:buFont typeface="Arial"/>
              <a:buChar char="•"/>
            </a:pPr>
            <a:r>
              <a:rPr lang="es-PE" sz="1500" dirty="0">
                <a:solidFill>
                  <a:srgbClr val="022300"/>
                </a:solidFill>
                <a:latin typeface="Calibri"/>
              </a:rPr>
              <a:t>Hasta 1 h ............ 183</a:t>
            </a:r>
            <a:endParaRPr lang="es-PE" sz="1500"/>
          </a:p>
          <a:p>
            <a:pPr marL="0" lvl="0">
              <a:buFont typeface="Arial"/>
              <a:buChar char="•"/>
            </a:pPr>
            <a:r>
              <a:rPr lang="es-PE" sz="1500" dirty="0">
                <a:solidFill>
                  <a:srgbClr val="022300"/>
                </a:solidFill>
                <a:latin typeface="Calibri"/>
              </a:rPr>
              <a:t>1 a 3 h .............. 39</a:t>
            </a:r>
            <a:endParaRPr lang="es-PE" sz="1500"/>
          </a:p>
          <a:p>
            <a:pPr marL="0" lvl="0">
              <a:buFont typeface="Arial"/>
              <a:buChar char="•"/>
            </a:pPr>
            <a:r>
              <a:rPr lang="es-PE" sz="1500" dirty="0">
                <a:solidFill>
                  <a:srgbClr val="022300"/>
                </a:solidFill>
                <a:latin typeface="Calibri"/>
              </a:rPr>
              <a:t>3 a 6 h .............. 12</a:t>
            </a:r>
            <a:endParaRPr lang="es-PE" sz="1500"/>
          </a:p>
          <a:p>
            <a:pPr marL="0" lvl="0">
              <a:buFont typeface="Arial"/>
              <a:buChar char="•"/>
            </a:pPr>
            <a:r>
              <a:rPr lang="es-PE" sz="1500" dirty="0">
                <a:solidFill>
                  <a:srgbClr val="022300"/>
                </a:solidFill>
                <a:latin typeface="Calibri"/>
              </a:rPr>
              <a:t>6 a 12 h ............. 5</a:t>
            </a:r>
            <a:endParaRPr lang="es-PE" sz="1500"/>
          </a:p>
          <a:p>
            <a:pPr marL="0" lvl="0">
              <a:buFont typeface="Arial"/>
              <a:buChar char="•"/>
            </a:pPr>
            <a:r>
              <a:rPr lang="es-PE" sz="1500" dirty="0">
                <a:solidFill>
                  <a:srgbClr val="022300"/>
                </a:solidFill>
                <a:latin typeface="Calibri"/>
              </a:rPr>
              <a:t>12 a 24 h ............ 5</a:t>
            </a:r>
            <a:endParaRPr lang="es-PE" sz="1500"/>
          </a:p>
          <a:p>
            <a:pPr marL="0" lvl="0">
              <a:buFont typeface="Arial"/>
              <a:buChar char="•"/>
            </a:pPr>
            <a:r>
              <a:rPr lang="es-PE" sz="1500" dirty="0">
                <a:solidFill>
                  <a:srgbClr val="B03A2E"/>
                </a:solidFill>
                <a:latin typeface="Calibri"/>
              </a:rPr>
              <a:t>Mas de 24 h ......... 2</a:t>
            </a:r>
            <a:endParaRPr lang="es-PE" sz="1500"/>
          </a:p>
          <a:p>
            <a:pPr marL="0" lvl="0">
              <a:buNone/>
            </a:pPr>
            <a:r>
              <a:rPr lang="es-PE" sz="1300" dirty="0">
                <a:solidFill>
                  <a:srgbClr val="7A8699"/>
                </a:solidFill>
                <a:latin typeface="Calibri"/>
              </a:rPr>
              <a:t>Mediana: 25 min h. La gran mayoria son traslados intra-ciudad o intra-region de menos de 3 h.</a:t>
            </a:r>
            <a:endParaRPr lang="es-PE" sz="13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ulo"/>
          <p:cNvSpPr>
            <a:spLocks noGrp="1"/>
          </p:cNvSpPr>
          <p:nvPr/>
        </p:nvSpPr>
        <p:spPr>
          <a:xfrm>
            <a:off x="640000" y="360000"/>
            <a:ext cx="10900000" cy="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lvl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Via terrestre - 12 rutas mas largas</a:t>
            </a:r>
            <a:endParaRPr lang="es-PE" sz="2600"/>
          </a:p>
        </p:txBody>
      </p:sp>
      <p:graphicFrame>
        <p:nvGraphicFramePr>
          <p:cNvPr id="201" name="Tbl1"/>
          <p:cNvGraphicFramePr/>
          <p:nvPr/>
        </p:nvGraphicFramePr>
        <p:xfrm>
          <a:off x="500000" y="1350000"/>
          <a:ext cx="11200000" cy="4700000"/>
        </p:xfrm>
        <a:graphic>
          <a:graphicData uri="http://schemas.openxmlformats.org/drawingml/2006/table">
            <a:tbl>
              <a:tblPr firstRow="1" bandRow="1"/>
              <a:tblGrid>
                <a:gridCol w="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l"/>
                      <a:r>
                        <a:rPr lang="es-PE" sz="11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2F3B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100" b="1">
                          <a:solidFill>
                            <a:srgbClr val="FFFFFF"/>
                          </a:solidFill>
                          <a:latin typeface="Calibri"/>
                        </a:rPr>
                        <a:t>Banco productor (BS II)</a:t>
                      </a:r>
                    </a:p>
                  </a:txBody>
                  <a:tcPr>
                    <a:solidFill>
                      <a:srgbClr val="2F3B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100" b="1">
                          <a:solidFill>
                            <a:srgbClr val="FFFFFF"/>
                          </a:solidFill>
                          <a:latin typeface="Calibri"/>
                        </a:rPr>
                        <a:t>Hospital receptor (BS I)</a:t>
                      </a:r>
                    </a:p>
                  </a:txBody>
                  <a:tcPr>
                    <a:solidFill>
                      <a:srgbClr val="2F3B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100" b="1">
                          <a:solidFill>
                            <a:srgbClr val="FFFFFF"/>
                          </a:solidFill>
                          <a:latin typeface="Calibri"/>
                        </a:rPr>
                        <a:t>Km carretera</a:t>
                      </a:r>
                    </a:p>
                  </a:txBody>
                  <a:tcPr>
                    <a:solidFill>
                      <a:srgbClr val="2F3B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100" b="1">
                          <a:solidFill>
                            <a:srgbClr val="FFFFFF"/>
                          </a:solidFill>
                          <a:latin typeface="Calibri"/>
                        </a:rPr>
                        <a:t>Tiempo terrestre</a:t>
                      </a:r>
                    </a:p>
                  </a:txBody>
                  <a:tcPr>
                    <a:solidFill>
                      <a:srgbClr val="2F3B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100" b="1">
                          <a:solidFill>
                            <a:srgbClr val="FFFFFF"/>
                          </a:solidFill>
                          <a:latin typeface="Calibri"/>
                        </a:rPr>
                        <a:t>Terreno</a:t>
                      </a:r>
                    </a:p>
                  </a:txBody>
                  <a:tcPr>
                    <a:solidFill>
                      <a:srgbClr val="2F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HOSPITAL CARLOS MONGE MED…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SANTA MARIA DE NIEVA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2,546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2 d 6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paso de altura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INSTITUTO REGIONAL DE ENF…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Hospital Militar Division…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1,974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1 d 16 h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sierra / ceja de selva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226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CLINICA SAN BORJA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SANNA - CLINICA BELEN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977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18 h 21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costa / llano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211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MEDIC SER SAC -AUNA CLINI…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CLÍNICAS AUNA SEDE PIURA -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977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18 h 20 min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costa / llano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HOSPITAL DE LA AMISTAD PE…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HOGAR CLÍNICA MONTE SINAÍ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968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17 h 40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costa / llano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209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MEDIC SER SAC -AUNA CLINI…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CLINICAS AUNA SEDE VALLE…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991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17 h 32 min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tramos de altura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MEDIC SER SAC -AUNA CLINI…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GSP TRUJILLO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14 h 56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costa / llano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HOSPITAL REGIONAL DOCENTE…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CLINICA CAMINO REAL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559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10 h 22 min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costa / llano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Hospital Antonio Lorena d…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QUILLABAMBA-ESSALUD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7 h 04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sierra alta sostenida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57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Hospital Antonio Lorena d…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SR DE TORRECHAYOC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203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7 h 01 min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sierra alta sostenida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Hospital Antonio Lorena d…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HOSPITAL DE ESPINAR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6 h 12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sierra alta sostenida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241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HOSPITAL II PASCO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HOSPITAL I OXAPAMPA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176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6 h 04 min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sierra alta sostenida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ulo"/>
          <p:cNvSpPr>
            <a:spLocks noGrp="1"/>
          </p:cNvSpPr>
          <p:nvPr/>
        </p:nvSpPr>
        <p:spPr>
          <a:xfrm>
            <a:off x="640000" y="360000"/>
            <a:ext cx="10900000" cy="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lvl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Via aerea - 20 convenios con opcion aerea (por tiempo)</a:t>
            </a:r>
            <a:endParaRPr lang="es-PE" sz="2600"/>
          </a:p>
        </p:txBody>
      </p:sp>
      <p:graphicFrame>
        <p:nvGraphicFramePr>
          <p:cNvPr id="202" name="Tbl2"/>
          <p:cNvGraphicFramePr/>
          <p:nvPr/>
        </p:nvGraphicFramePr>
        <p:xfrm>
          <a:off x="500000" y="1350000"/>
          <a:ext cx="11200000" cy="3980000"/>
        </p:xfrm>
        <a:graphic>
          <a:graphicData uri="http://schemas.openxmlformats.org/drawingml/2006/table">
            <a:tbl>
              <a:tblPr firstRow="1" bandRow="1"/>
              <a:tblGrid>
                <a:gridCol w="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l"/>
                      <a:r>
                        <a:rPr lang="es-PE" sz="11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2F3B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100" b="1">
                          <a:solidFill>
                            <a:srgbClr val="FFFFFF"/>
                          </a:solidFill>
                          <a:latin typeface="Calibri"/>
                        </a:rPr>
                        <a:t>Ruta aerea</a:t>
                      </a:r>
                    </a:p>
                  </a:txBody>
                  <a:tcPr>
                    <a:solidFill>
                      <a:srgbClr val="2F3B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100" b="1">
                          <a:solidFill>
                            <a:srgbClr val="FFFFFF"/>
                          </a:solidFill>
                          <a:latin typeface="Calibri"/>
                        </a:rPr>
                        <a:t>Km de vuelo</a:t>
                      </a:r>
                    </a:p>
                  </a:txBody>
                  <a:tcPr>
                    <a:solidFill>
                      <a:srgbClr val="2F3B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100" b="1">
                          <a:solidFill>
                            <a:srgbClr val="FFFFFF"/>
                          </a:solidFill>
                          <a:latin typeface="Calibri"/>
                        </a:rPr>
                        <a:t>Tiempo puerta a puerta</a:t>
                      </a:r>
                    </a:p>
                  </a:txBody>
                  <a:tcPr>
                    <a:solidFill>
                      <a:srgbClr val="2F3B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100" b="1">
                          <a:solidFill>
                            <a:srgbClr val="FFFFFF"/>
                          </a:solidFill>
                          <a:latin typeface="Calibri"/>
                        </a:rPr>
                        <a:t>Receptor</a:t>
                      </a:r>
                    </a:p>
                  </a:txBody>
                  <a:tcPr>
                    <a:solidFill>
                      <a:srgbClr val="2F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Juliaca (JUL) -&gt; LIM -&gt; Jaen (JAE)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1,581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9 h 45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SANTA MARIA DE NIEVA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177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Lima (LIM) -&gt; Huaraz (ATA)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302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9 h 34 min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HOSPITAL BARRANCA CAJAT…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278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Tacna (TCQ) -&gt; LIM -&gt; Ilo (ILQ)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1,879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8 h 04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Hospital II Moquegua -…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69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Jauja (JAU) -&gt; LIM -&gt; Ayacucho (AYP)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520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7 h 06 min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HOSPITAL DE LIRCAY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Trujillo (TRU) -&gt; LIM -&gt; Chiclayo (CIX)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1,143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6 h 57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HOSPITAL TOMAS LA FORA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68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Jauja (JAU) -&gt; LIM -&gt; Ayacucho (AYP)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520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6 h 54 min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HOSPITAL PROVINCIAL DE…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Tarapoto (TPP) -&gt; LIM -&gt; Rioja (RIJ)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1,280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5 h 45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CENTRO MEDICO LUZ DIVINA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Arequipa (AQP) -&gt; LIM -&gt; Piura (PIU)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1,616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5 h 43 min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Hospital Militar Divisi…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Tarapoto (TPP) -&gt; LIM -&gt; Rioja (RIJ)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1,280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5 h 43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HOSPITAL MOYOBAMBA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269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Tarapoto (TPP) -&gt; LIM -&gt; Rioja (RIJ)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1,280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5 h 29 min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>
                          <a:latin typeface="Calibri"/>
                        </a:rPr>
                        <a:t>CLINICA YANTALO -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ulo"/>
          <p:cNvSpPr>
            <a:spLocks noGrp="1"/>
          </p:cNvSpPr>
          <p:nvPr/>
        </p:nvSpPr>
        <p:spPr>
          <a:xfrm>
            <a:off x="640000" y="360000"/>
            <a:ext cx="10900000" cy="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lvl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Via aerea - lectura de los resultados</a:t>
            </a:r>
            <a:endParaRPr lang="es-PE" sz="2600"/>
          </a:p>
        </p:txBody>
      </p:sp>
      <p:sp>
        <p:nvSpPr>
          <p:cNvPr id="60" name="b"/>
          <p:cNvSpPr>
            <a:spLocks noGrp="1"/>
          </p:cNvSpPr>
          <p:nvPr/>
        </p:nvSpPr>
        <p:spPr>
          <a:xfrm>
            <a:off x="640000" y="1450000"/>
            <a:ext cx="10900000" cy="46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lvl="0">
              <a:buFont typeface="Arial"/>
              <a:buChar char="•"/>
            </a:pPr>
            <a:r>
              <a:rPr lang="es-PE" sz="1500" dirty="0">
                <a:solidFill>
                  <a:srgbClr val="022300"/>
                </a:solidFill>
                <a:latin typeface="Calibri"/>
              </a:rPr>
              <a:t>La via aerea solo se evalua cuando origen y destino usan aeropuertos distintos con servicio comercial; por eso solo 20 de 278 convenios la tienen.</a:t>
            </a:r>
            <a:endParaRPr lang="es-PE" sz="1500"/>
          </a:p>
          <a:p>
            <a:pPr marL="0" lvl="0">
              <a:buFont typeface="Arial"/>
              <a:buChar char="•"/>
            </a:pPr>
            <a:r>
              <a:rPr lang="es-PE" sz="1500" dirty="0">
                <a:solidFill>
                  <a:srgbClr val="022300"/>
                </a:solidFill>
                <a:latin typeface="Calibri"/>
              </a:rPr>
              <a:t>Rutas largas reales donde el avion es la opcion sensata: Arequipa-Piura (AQP-PIU, 5 h 43), Juliaca-Jaen (JUL-JAE, 9 h 45), Trujillo-Chiclayo via Lima (6 h 57).</a:t>
            </a:r>
            <a:endParaRPr lang="es-PE" sz="1500"/>
          </a:p>
          <a:p>
            <a:pPr marL="0" lvl="0">
              <a:buFont typeface="Arial"/>
              <a:buChar char="•"/>
            </a:pPr>
            <a:r>
              <a:rPr lang="es-PE" sz="1400" dirty="0">
                <a:solidFill>
                  <a:srgbClr val="B03A2E"/>
                </a:solidFill>
                <a:latin typeface="Calibri"/>
              </a:rPr>
              <a:t>Casos con numero alto pero poco realistas (mismo eje vial, se resuelven mejor por carretera): Tarapoto-Rioja y Jauja-Ayacucho, forzados a escala en Lima por falta de vuelo directo; Lima-Huaraz (LIM-ATA) sale 9 h 34 por el traslado terrestre al aeropuerto de Anta.</a:t>
            </a:r>
            <a:endParaRPr lang="es-PE" sz="1400"/>
          </a:p>
          <a:p>
            <a:pPr marL="0" lvl="0">
              <a:buNone/>
            </a:pPr>
            <a:r>
              <a:rPr lang="es-PE" sz="1300" dirty="0">
                <a:solidFill>
                  <a:srgbClr val="7A8699"/>
                </a:solidFill>
                <a:latin typeface="Calibri"/>
              </a:rPr>
              <a:t>Para decisiones operativas conviene comparar el tiempo aereo puerta a puerta contra el terrestre de la misma fila del Excel.</a:t>
            </a:r>
            <a:endParaRPr lang="es-PE" sz="13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itulo"/>
          <p:cNvSpPr>
            <a:spLocks noGrp="1"/>
          </p:cNvSpPr>
          <p:nvPr/>
        </p:nvSpPr>
        <p:spPr>
          <a:xfrm>
            <a:off x="640000" y="360000"/>
            <a:ext cx="10900000" cy="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lvl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Via acuatica (fluvial)</a:t>
            </a:r>
            <a:endParaRPr lang="es-PE" sz="2600"/>
          </a:p>
        </p:txBody>
      </p:sp>
      <p:sp>
        <p:nvSpPr>
          <p:cNvPr id="70" name="b"/>
          <p:cNvSpPr>
            <a:spLocks noGrp="1"/>
          </p:cNvSpPr>
          <p:nvPr/>
        </p:nvSpPr>
        <p:spPr>
          <a:xfrm>
            <a:off x="640000" y="1450000"/>
            <a:ext cx="10900000" cy="46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lvl="0">
              <a:buNone/>
            </a:pPr>
            <a:r>
              <a:rPr lang="es-PE" sz="1700" b="1" dirty="0">
                <a:solidFill>
                  <a:srgbClr val="1F2A44"/>
                </a:solidFill>
                <a:latin typeface="Calibri"/>
              </a:rPr>
              <a:t>Ningun convenio vigente requiere ni permite via acuatica.</a:t>
            </a:r>
            <a:endParaRPr lang="es-PE" sz="1700"/>
          </a:p>
          <a:p>
            <a:pPr marL="0" lvl="0">
              <a:buFont typeface="Arial"/>
              <a:buChar char="•"/>
            </a:pPr>
            <a:r>
              <a:rPr lang="es-PE" sz="1500" dirty="0">
                <a:solidFill>
                  <a:srgbClr val="022300"/>
                </a:solidFill>
                <a:latin typeface="Calibri"/>
              </a:rPr>
              <a:t>En los 246 convenios geolocalizados, para cada par se busco un puerto fluvial navegable a &lt;=150 km de cada extremo y una ruta de rio entre ambos (red curada: Yurimaguas, Iquitos, Pucallpa, Nauta, Contamana, etc.).</a:t>
            </a:r>
            <a:endParaRPr lang="es-PE" sz="1500"/>
          </a:p>
          <a:p>
            <a:pPr marL="0" lvl="0">
              <a:buFont typeface="Arial"/>
              <a:buChar char="•"/>
            </a:pPr>
            <a:r>
              <a:rPr lang="es-PE" sz="1500" dirty="0">
                <a:solidFill>
                  <a:srgbClr val="022300"/>
                </a:solidFill>
                <a:latin typeface="Calibri"/>
              </a:rPr>
              <a:t>Resultado: 229 convenios no tienen puerto navegable cerca de al menos un extremo; 17 (San Martin) tienen ambos extremos junto al mismo puerto. En todos hay carretera.</a:t>
            </a:r>
            <a:endParaRPr lang="es-PE" sz="1500"/>
          </a:p>
          <a:p>
            <a:pPr marL="0" lvl="0">
              <a:buNone/>
            </a:pPr>
            <a:r>
              <a:rPr lang="es-PE" sz="1300" dirty="0">
                <a:solidFill>
                  <a:srgbClr val="7A8699"/>
                </a:solidFill>
                <a:latin typeface="Calibri"/>
              </a:rPr>
              <a:t>La via acuatica seguiria siendo relevante solo si a futuro se firmara un convenio entre, por ejemplo, un banco de Iquitos y un hospital de Pucallpa o del bajo Maranon.</a:t>
            </a:r>
            <a:endParaRPr lang="es-PE" sz="13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itulo"/>
          <p:cNvSpPr>
            <a:spLocks noGrp="1"/>
          </p:cNvSpPr>
          <p:nvPr/>
        </p:nvSpPr>
        <p:spPr>
          <a:xfrm>
            <a:off x="640000" y="360000"/>
            <a:ext cx="10900000" cy="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lvl="0">
              <a:buNone/>
            </a:pPr>
            <a:r>
              <a:rPr lang="es-PE" sz="2600" b="1" dirty="0">
                <a:solidFill>
                  <a:srgbClr val="1F2A44"/>
                </a:solidFill>
                <a:latin typeface="Calibri"/>
              </a:rPr>
              <a:t>Conclusiones y recomendaciones</a:t>
            </a:r>
            <a:endParaRPr lang="es-PE" sz="2600"/>
          </a:p>
        </p:txBody>
      </p:sp>
      <p:sp>
        <p:nvSpPr>
          <p:cNvPr id="80" name="b"/>
          <p:cNvSpPr>
            <a:spLocks noGrp="1"/>
          </p:cNvSpPr>
          <p:nvPr/>
        </p:nvSpPr>
        <p:spPr>
          <a:xfrm>
            <a:off x="640000" y="1450000"/>
            <a:ext cx="10900000" cy="46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lvl="0">
              <a:buFont typeface="Arial"/>
              <a:buChar char="•"/>
            </a:pPr>
            <a:r>
              <a:rPr lang="es-PE" sz="1500" dirty="0">
                <a:solidFill>
                  <a:srgbClr val="B03A2E"/>
                </a:solidFill>
                <a:latin typeface="Calibri"/>
              </a:rPr>
              <a:t>El convenio con mayor tiempo terrestre es N 253: HOSPITAL CARLOS MONGE MEDRANO -&gt; SANTA MARIA DE NIEVA (2,546 km, 2 d 6 h).</a:t>
            </a:r>
            <a:endParaRPr lang="es-PE" sz="1500"/>
          </a:p>
          <a:p>
            <a:pPr marL="0" lvl="0">
              <a:buFont typeface="Arial"/>
              <a:buChar char="•"/>
            </a:pPr>
            <a:r>
              <a:rPr lang="es-PE" sz="1500" dirty="0">
                <a:solidFill>
                  <a:srgbClr val="022300"/>
                </a:solidFill>
                <a:latin typeface="Calibri"/>
              </a:rPr>
              <a:t>Los convenios inter-regionales de sierra (Cusco, Ayacucho, Puno, Ancash) concentran los tiempos terrestres mas altos por el factor de altitud.</a:t>
            </a:r>
            <a:endParaRPr lang="es-PE" sz="1500"/>
          </a:p>
          <a:p>
            <a:pPr marL="0" lvl="0">
              <a:buFont typeface="Arial"/>
              <a:buChar char="•"/>
            </a:pPr>
            <a:r>
              <a:rPr lang="es-PE" sz="1500" dirty="0">
                <a:solidFill>
                  <a:srgbClr val="022300"/>
                </a:solidFill>
                <a:latin typeface="Calibri"/>
              </a:rPr>
              <a:t>Para los 20 convenios inter-regionales, la via aerea reduce el tiempo puerta a puerta frente al terrestre; en los demas el traslado es y debe seguir siendo por carretera.</a:t>
            </a:r>
            <a:endParaRPr lang="es-PE" sz="1500"/>
          </a:p>
          <a:p>
            <a:pPr marL="0" lvl="0">
              <a:buFont typeface="Arial"/>
              <a:buChar char="•"/>
            </a:pPr>
            <a:r>
              <a:rPr lang="es-PE" sz="1400" dirty="0">
                <a:solidFill>
                  <a:srgbClr val="022300"/>
                </a:solidFill>
                <a:latin typeface="Calibri"/>
              </a:rPr>
              <a:t>Recomendaciones: (1) priorizar la actualizacion de ubicacion RENIPRESS de los 32 receptores sin dato; (2) revisar la pertinencia operativa de convenios con traslado terrestre &gt; 12 h; (3) el detalle fila a fila esta en el Excel adjunto.</a:t>
            </a:r>
            <a:endParaRPr lang="es-PE" sz="14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2A44"/>
      </a:dk2>
      <a:lt2>
        <a:srgbClr val="EEF1F6"/>
      </a:lt2>
      <a:accent1>
        <a:srgbClr val="2F3B52"/>
      </a:accent1>
      <a:accent2>
        <a:srgbClr val="B03A2E"/>
      </a:accent2>
      <a:accent3>
        <a:srgbClr val="4C6272"/>
      </a:accent3>
      <a:accent4>
        <a:srgbClr val="8497B0"/>
      </a:accent4>
      <a:accent5>
        <a:srgbClr val="A5A5A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1103</Words>
  <Application>Microsoft Office PowerPoint</Application>
  <PresentationFormat>Panorámica</PresentationFormat>
  <Paragraphs>169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Roberto</cp:lastModifiedBy>
  <cp:revision>1</cp:revision>
  <dcterms:modified xsi:type="dcterms:W3CDTF">2026-09-03T13:55:41Z</dcterms:modified>
</cp:coreProperties>
</file>